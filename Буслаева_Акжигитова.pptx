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71" r:id="rId15"/>
    <p:sldId id="272" r:id="rId16"/>
    <p:sldId id="273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 в месяц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E9-4A31-AB2C-69BA313A19E0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E9-4A31-AB2C-69BA313A19E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E9-4A31-AB2C-69BA313A19E0}"/>
              </c:ext>
            </c:extLst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E9-4A31-AB2C-69BA313A19E0}"/>
              </c:ext>
            </c:extLst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CE9-4A31-AB2C-69BA313A19E0}"/>
              </c:ext>
            </c:extLst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CE9-4A31-AB2C-69BA313A19E0}"/>
              </c:ext>
            </c:extLst>
          </c:dPt>
          <c:dPt>
            <c:idx val="6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CE9-4A31-AB2C-69BA313A19E0}"/>
              </c:ext>
            </c:extLst>
          </c:dPt>
          <c:dPt>
            <c:idx val="7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CE9-4A31-AB2C-69BA313A19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Гуманит. и соц. науки</c:v>
                </c:pt>
                <c:pt idx="1">
                  <c:v>Искусство и дизайн</c:v>
                </c:pt>
                <c:pt idx="2">
                  <c:v>Медицина</c:v>
                </c:pt>
                <c:pt idx="3">
                  <c:v>Право</c:v>
                </c:pt>
                <c:pt idx="4">
                  <c:v>Языки и лингвистика</c:v>
                </c:pt>
                <c:pt idx="5">
                  <c:v>Бизнес и менеджмент</c:v>
                </c:pt>
                <c:pt idx="6">
                  <c:v>Образование/педагогика</c:v>
                </c:pt>
                <c:pt idx="7">
                  <c:v>STEM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360</c:v>
                </c:pt>
                <c:pt idx="1">
                  <c:v>168</c:v>
                </c:pt>
                <c:pt idx="2">
                  <c:v>98</c:v>
                </c:pt>
                <c:pt idx="3">
                  <c:v>32</c:v>
                </c:pt>
                <c:pt idx="4">
                  <c:v>23</c:v>
                </c:pt>
                <c:pt idx="5">
                  <c:v>17</c:v>
                </c:pt>
                <c:pt idx="6">
                  <c:v>11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CE9-4A31-AB2C-69BA313A19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81ba799-3751-4d4a-a1dd-f7998fadeab9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D7-4BF8-B1DC-12351DB5BBC3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D7-4BF8-B1DC-12351DB5BBC3}"/>
              </c:ext>
            </c:extLst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D7-4BF8-B1DC-12351DB5BBC3}"/>
              </c:ext>
            </c:extLst>
          </c:dPt>
          <c:dPt>
            <c:idx val="3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4D7-4BF8-B1DC-12351DB5BBC3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D7-4BF8-B1DC-12351DB5BBC3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D7-4BF8-B1DC-12351DB5BBC3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4D7-4BF8-B1DC-12351DB5BBC3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4D7-4BF8-B1DC-12351DB5BB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Общее</c:v>
                </c:pt>
                <c:pt idx="1">
                  <c:v>Документы</c:v>
                </c:pt>
                <c:pt idx="2">
                  <c:v>Виза</c:v>
                </c:pt>
                <c:pt idx="3">
                  <c:v>Поступление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26687</c:v>
                </c:pt>
                <c:pt idx="1">
                  <c:v>20396</c:v>
                </c:pt>
                <c:pt idx="2">
                  <c:v>8668</c:v>
                </c:pt>
                <c:pt idx="3">
                  <c:v>1241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D7-4BF8-B1DC-12351DB5BBC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c4670f3-03df-4203-b640-685c43a306d8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5D-4644-9C87-37FDC0D99DED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5D-4644-9C87-37FDC0D99DED}"/>
              </c:ext>
            </c:extLst>
          </c:dPt>
          <c:dPt>
            <c:idx val="2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5D-4644-9C87-37FDC0D99DED}"/>
              </c:ext>
            </c:extLst>
          </c:dPt>
          <c:dPt>
            <c:idx val="3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5D-4644-9C87-37FDC0D99DED}"/>
              </c:ext>
            </c:extLst>
          </c:dPt>
          <c:dPt>
            <c:idx val="4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5D-4644-9C87-37FDC0D99DED}"/>
              </c:ext>
            </c:extLst>
          </c:dPt>
          <c:dPt>
            <c:idx val="5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5D-4644-9C87-37FDC0D99DED}"/>
              </c:ext>
            </c:extLst>
          </c:dPt>
          <c:dPt>
            <c:idx val="6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75D-4644-9C87-37FDC0D99DED}"/>
              </c:ext>
            </c:extLst>
          </c:dPt>
          <c:dPt>
            <c:idx val="7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75D-4644-9C87-37FDC0D99DE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Москва</c:v>
                </c:pt>
                <c:pt idx="1">
                  <c:v>СПб и Лен. область</c:v>
                </c:pt>
                <c:pt idx="2">
                  <c:v>Краснодарский край</c:v>
                </c:pt>
                <c:pt idx="3">
                  <c:v>Республика Татарстан</c:v>
                </c:pt>
                <c:pt idx="4">
                  <c:v>Свердловская область</c:v>
                </c:pt>
                <c:pt idx="5">
                  <c:v>Казахстан</c:v>
                </c:pt>
                <c:pt idx="6">
                  <c:v>Нижегородская область</c:v>
                </c:pt>
                <c:pt idx="7">
                  <c:v>Ростовская область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13692</c:v>
                </c:pt>
                <c:pt idx="1">
                  <c:v>5989</c:v>
                </c:pt>
                <c:pt idx="2">
                  <c:v>2316</c:v>
                </c:pt>
                <c:pt idx="3">
                  <c:v>1856</c:v>
                </c:pt>
                <c:pt idx="4">
                  <c:v>1567</c:v>
                </c:pt>
                <c:pt idx="5">
                  <c:v>1458</c:v>
                </c:pt>
                <c:pt idx="6">
                  <c:v>1434</c:v>
                </c:pt>
                <c:pt idx="7">
                  <c:v>1280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75D-4644-9C87-37FDC0D99D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1b4fcd7-2abe-403a-a270-0838c266eb7a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Запросов/мес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54-4717-8BEC-7A2869C843CB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54-4717-8BEC-7A2869C843CB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54-4717-8BEC-7A2869C843CB}"/>
              </c:ext>
            </c:extLst>
          </c:dPt>
          <c:dPt>
            <c:idx val="3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54-4717-8BEC-7A2869C843CB}"/>
              </c:ext>
            </c:extLst>
          </c:dPt>
          <c:dPt>
            <c:idx val="4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54-4717-8BEC-7A2869C843CB}"/>
              </c:ext>
            </c:extLst>
          </c:dPt>
          <c:dPt>
            <c:idx val="5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54-4717-8BEC-7A2869C843CB}"/>
              </c:ext>
            </c:extLst>
          </c:dPt>
          <c:dPt>
            <c:idx val="6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A54-4717-8BEC-7A2869C843CB}"/>
              </c:ext>
            </c:extLst>
          </c:dPt>
          <c:dPt>
            <c:idx val="7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A54-4717-8BEC-7A2869C843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Китай</c:v>
                </c:pt>
                <c:pt idx="1">
                  <c:v>Германия</c:v>
                </c:pt>
                <c:pt idx="2">
                  <c:v>Италия</c:v>
                </c:pt>
                <c:pt idx="3">
                  <c:v>США</c:v>
                </c:pt>
                <c:pt idx="4">
                  <c:v>Канада</c:v>
                </c:pt>
                <c:pt idx="5">
                  <c:v>Испания</c:v>
                </c:pt>
                <c:pt idx="6">
                  <c:v>Франция</c:v>
                </c:pt>
                <c:pt idx="7">
                  <c:v>Великобритания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11039</c:v>
                </c:pt>
                <c:pt idx="1">
                  <c:v>2536</c:v>
                </c:pt>
                <c:pt idx="2">
                  <c:v>2339</c:v>
                </c:pt>
                <c:pt idx="3">
                  <c:v>1269</c:v>
                </c:pt>
                <c:pt idx="4">
                  <c:v>670</c:v>
                </c:pt>
                <c:pt idx="5">
                  <c:v>605</c:v>
                </c:pt>
                <c:pt idx="6">
                  <c:v>444</c:v>
                </c:pt>
                <c:pt idx="7">
                  <c:v>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A54-4717-8BEC-7A2869C843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95590d2-6061-409d-9599-a363fc86a3a6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Студентов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1A-44D6-BD7C-FA3255FDB190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1A-44D6-BD7C-FA3255FDB190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1A-44D6-BD7C-FA3255FDB190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1A-44D6-BD7C-FA3255FDB190}"/>
              </c:ext>
            </c:extLst>
          </c:dPt>
          <c:dPt>
            <c:idx val="4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1A-44D6-BD7C-FA3255FDB190}"/>
              </c:ext>
            </c:extLst>
          </c:dPt>
          <c:dPt>
            <c:idx val="5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1A-44D6-BD7C-FA3255FDB190}"/>
              </c:ext>
            </c:extLst>
          </c:dPt>
          <c:dPt>
            <c:idx val="6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01A-44D6-BD7C-FA3255FDB190}"/>
              </c:ext>
            </c:extLst>
          </c:dPt>
          <c:dPt>
            <c:idx val="7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01A-44D6-BD7C-FA3255FDB190}"/>
              </c:ext>
            </c:extLst>
          </c:dPt>
          <c:dPt>
            <c:idx val="8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01A-44D6-BD7C-FA3255FDB190}"/>
              </c:ext>
            </c:extLst>
          </c:dPt>
          <c:dPt>
            <c:idx val="9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01A-44D6-BD7C-FA3255FDB19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Германия</c:v>
                </c:pt>
                <c:pt idx="1">
                  <c:v>Франция</c:v>
                </c:pt>
                <c:pt idx="2">
                  <c:v>Армения</c:v>
                </c:pt>
                <c:pt idx="3">
                  <c:v>Киргизия</c:v>
                </c:pt>
                <c:pt idx="4">
                  <c:v>Австрия</c:v>
                </c:pt>
                <c:pt idx="5">
                  <c:v>Казахстан</c:v>
                </c:pt>
                <c:pt idx="6">
                  <c:v>Финляндия</c:v>
                </c:pt>
                <c:pt idx="7">
                  <c:v>Беларусь</c:v>
                </c:pt>
                <c:pt idx="8">
                  <c:v>Южная Корея</c:v>
                </c:pt>
                <c:pt idx="9">
                  <c:v>Словакия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10974</c:v>
                </c:pt>
                <c:pt idx="1">
                  <c:v>3159</c:v>
                </c:pt>
                <c:pt idx="2">
                  <c:v>2761</c:v>
                </c:pt>
                <c:pt idx="3">
                  <c:v>2623</c:v>
                </c:pt>
                <c:pt idx="4">
                  <c:v>2345</c:v>
                </c:pt>
                <c:pt idx="5">
                  <c:v>2123</c:v>
                </c:pt>
                <c:pt idx="6">
                  <c:v>2066</c:v>
                </c:pt>
                <c:pt idx="7">
                  <c:v>1901</c:v>
                </c:pt>
                <c:pt idx="8">
                  <c:v>1351</c:v>
                </c:pt>
                <c:pt idx="9">
                  <c:v>1253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01A-44D6-BD7C-FA3255FDB1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34dd401-1f4c-4726-8051-0ba9f8cfa8bc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Спрос (Wordstat)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Германия</c:v>
                </c:pt>
                <c:pt idx="1">
                  <c:v>Китай</c:v>
                </c:pt>
                <c:pt idx="2">
                  <c:v>Италия</c:v>
                </c:pt>
                <c:pt idx="3">
                  <c:v>США</c:v>
                </c:pt>
                <c:pt idx="4">
                  <c:v>Франция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2536</c:v>
                </c:pt>
                <c:pt idx="1">
                  <c:v>11039</c:v>
                </c:pt>
                <c:pt idx="2">
                  <c:v>2339</c:v>
                </c:pt>
                <c:pt idx="3">
                  <c:v>1269</c:v>
                </c:pt>
                <c:pt idx="4">
                  <c:v>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18-4EBD-904A-68E3E1075B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Реальность (UNESCO)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Германия</c:v>
                </c:pt>
                <c:pt idx="1">
                  <c:v>Китай</c:v>
                </c:pt>
                <c:pt idx="2">
                  <c:v>Италия</c:v>
                </c:pt>
                <c:pt idx="3">
                  <c:v>США</c:v>
                </c:pt>
                <c:pt idx="4">
                  <c:v>Франция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10974</c:v>
                </c:pt>
                <c:pt idx="1">
                  <c:v>0</c:v>
                </c:pt>
                <c:pt idx="2">
                  <c:v>0</c:v>
                </c:pt>
                <c:pt idx="3">
                  <c:v>4543</c:v>
                </c:pt>
                <c:pt idx="4">
                  <c:v>3159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18-4EBD-904A-68E3E1075B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58cb1a9-6ce6-4fde-80b9-fbb25d8e8548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Упоминания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53-4EC5-9EF6-D123E26AE8ED}"/>
              </c:ext>
            </c:extLst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53-4EC5-9EF6-D123E26AE8ED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53-4EC5-9EF6-D123E26AE8ED}"/>
              </c:ext>
            </c:extLst>
          </c:dPt>
          <c:dPt>
            <c:idx val="3"/>
            <c:invertIfNegative val="0"/>
            <c:bubble3D val="0"/>
            <c:spPr>
              <a:solidFill>
                <a:srgbClr val="CA8A0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53-4EC5-9EF6-D123E26AE8E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IELTS / TOEFL / язык</c:v>
                </c:pt>
                <c:pt idx="1">
                  <c:v>Стоимость / деньги</c:v>
                </c:pt>
                <c:pt idx="2">
                  <c:v>Документы / перевод</c:v>
                </c:pt>
                <c:pt idx="3">
                  <c:v>Сроки / дедлайны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10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53-4EC5-9EF6-D123E26AE8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9515de-0e5e-4463-b81e-f69390ff9520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Рынок услуг по поступлению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за 2024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300" dirty="0">
                <a:solidFill>
                  <a:schemeClr val="bg1"/>
                </a:solidFill>
              </a:rPr>
              <a:t>Буслаева Яна, Акжигитова Джамиля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2800" b="1" dirty="0">
                <a:solidFill>
                  <a:srgbClr val="0F172A"/>
                </a:solidFill>
              </a:rPr>
              <a:t>Анализ ЦА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6" name="Text 4"/>
          <p:cNvSpPr/>
          <p:nvPr/>
        </p:nvSpPr>
        <p:spPr>
          <a:xfrm>
            <a:off x="621792" y="11887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Кто аудитория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Определить регионы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5010912" y="11887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Что ищут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16002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Найти самое распространенное направление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621792" y="310896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Куда едут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5204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Сравнить спрос (Wordstat) с реальными потоками студентов (UNESCO)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7180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8" name="Text 16"/>
          <p:cNvSpPr/>
          <p:nvPr/>
        </p:nvSpPr>
        <p:spPr>
          <a:xfrm>
            <a:off x="5010912" y="310896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Что болит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35204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Найти о чем больше всего волнуются (что ищут)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Источники данных и методы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457200" y="1393190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93190"/>
            <a:ext cx="502920" cy="841375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6" name="Text 4"/>
          <p:cNvSpPr/>
          <p:nvPr/>
        </p:nvSpPr>
        <p:spPr>
          <a:xfrm>
            <a:off x="457200" y="1393190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8545" y="164020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Яндекс.Wordstat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13560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466215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27 поисковых фраз по направлениям, услугам и странам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2200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62200"/>
            <a:ext cx="502920" cy="84137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457200" y="2362200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8545" y="2609850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UNESCO UIS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8320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435860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1 564 строки</a:t>
            </a:r>
            <a:r>
              <a:rPr lang="ru-RU" altLang="en-US" sz="1100" dirty="0">
                <a:solidFill>
                  <a:srgbClr val="64748B"/>
                </a:solidFill>
              </a:rPr>
              <a:t>,</a:t>
            </a:r>
            <a:r>
              <a:rPr lang="en-US" sz="1100" dirty="0">
                <a:solidFill>
                  <a:srgbClr val="64748B"/>
                </a:solidFill>
              </a:rPr>
              <a:t> реальные потоки студентов из РФ по 110 странам </a:t>
            </a:r>
            <a:r>
              <a:rPr lang="ru-RU" altLang="en-US" sz="1100" dirty="0">
                <a:solidFill>
                  <a:srgbClr val="64748B"/>
                </a:solidFill>
              </a:rPr>
              <a:t>использую 2024 год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3331845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1845"/>
            <a:ext cx="502920" cy="84137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" name="Text 16"/>
          <p:cNvSpPr/>
          <p:nvPr/>
        </p:nvSpPr>
        <p:spPr>
          <a:xfrm>
            <a:off x="457200" y="3331845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57822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Pikabu (Selenium)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5221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404870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63 поста по 4 поисковым запросам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Спрос по направлениям обучения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651760" cy="3840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7" name="Text 4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1600200"/>
            <a:ext cx="25146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Гуманитарные и социальные науки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лидируют с отрывом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360 запросов
</a:t>
            </a:r>
            <a:r>
              <a:rPr lang="en-US" sz="1100" b="1" dirty="0">
                <a:solidFill>
                  <a:srgbClr val="0F172A"/>
                </a:solidFill>
              </a:rPr>
              <a:t>Медицина и дизайн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стабильный средний спрос.
</a:t>
            </a:r>
            <a:r>
              <a:rPr lang="en-US" sz="1100" b="1" dirty="0">
                <a:solidFill>
                  <a:srgbClr val="0F172A"/>
                </a:solidFill>
              </a:rPr>
              <a:t>STEM почти не ищут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через эти запросы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вероятно используют более специфичные фразы.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Какие услуги ищет ЦА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5156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08813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26 687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623560" y="147218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Общее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поиск информации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01168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204825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20 396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23560" y="243230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Документы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главная боль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97180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300837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8 668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23560" y="339242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Виза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высокий спрос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93192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96849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1 241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623560" y="435254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Поступление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целевой запрос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5CDF5F-4273-8061-8E0B-F07771CD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525"/>
            <a:ext cx="9144000" cy="32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5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Откуда аудитория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943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60120"/>
            <a:ext cx="23774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960120"/>
            <a:ext cx="2377440" cy="5029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Text 4"/>
          <p:cNvSpPr/>
          <p:nvPr/>
        </p:nvSpPr>
        <p:spPr>
          <a:xfrm>
            <a:off x="6492240" y="9601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37960" y="1554480"/>
            <a:ext cx="224028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Москва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 лидер: 13 692 запроса.
</a:t>
            </a:r>
            <a:r>
              <a:rPr lang="en-US" sz="1100" b="1" dirty="0">
                <a:solidFill>
                  <a:srgbClr val="0F172A"/>
                </a:solidFill>
              </a:rPr>
              <a:t>СПб</a:t>
            </a:r>
            <a:r>
              <a:rPr lang="en-US" sz="1100" dirty="0">
                <a:solidFill>
                  <a:srgbClr val="0F172A"/>
                </a:solidFill>
              </a:rPr>
              <a:t> в 2.3 меньше.
</a:t>
            </a:r>
            <a:r>
              <a:rPr lang="en-US" sz="1100" b="1" dirty="0">
                <a:solidFill>
                  <a:srgbClr val="0F172A"/>
                </a:solidFill>
              </a:rPr>
              <a:t>Казахстан</a:t>
            </a:r>
            <a:r>
              <a:rPr lang="en-US" sz="1100" dirty="0">
                <a:solidFill>
                  <a:srgbClr val="0F172A"/>
                </a:solidFill>
              </a:rPr>
              <a:t> в топ-10 </a:t>
            </a:r>
            <a:r>
              <a:rPr lang="ru-RU" altLang="en-US" sz="1100" dirty="0">
                <a:solidFill>
                  <a:srgbClr val="0F172A"/>
                </a:solidFill>
              </a:rPr>
              <a:t>- </a:t>
            </a:r>
            <a:r>
              <a:rPr lang="en-US" sz="1100" dirty="0">
                <a:solidFill>
                  <a:srgbClr val="0F172A"/>
                </a:solidFill>
              </a:rPr>
              <a:t>сигнал о спросе со стороны русскоязычных из СНГ.
</a:t>
            </a:r>
            <a:r>
              <a:rPr lang="en-US" sz="1100" b="1" dirty="0">
                <a:solidFill>
                  <a:srgbClr val="0F172A"/>
                </a:solidFill>
              </a:rPr>
              <a:t>Регионы-миллионники</a:t>
            </a:r>
            <a:r>
              <a:rPr lang="en-US" sz="1100" dirty="0">
                <a:solidFill>
                  <a:srgbClr val="0F172A"/>
                </a:solidFill>
              </a:rPr>
              <a:t> (Татарстан, Свердловская)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перспективные рынки.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Куда хотят поехать учиться (Wordstat)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7607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6060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4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2468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Китай</a:t>
            </a:r>
            <a:r>
              <a:rPr lang="ru-RU" altLang="en-US" sz="1100" b="1" dirty="0">
                <a:solidFill>
                  <a:srgbClr val="0F172A"/>
                </a:solidFill>
              </a:rPr>
              <a:t> -</a:t>
            </a:r>
            <a:r>
              <a:rPr lang="en-US" sz="1100" b="1" dirty="0">
                <a:solidFill>
                  <a:srgbClr val="0F172A"/>
                </a:solidFill>
              </a:rPr>
              <a:t> лидер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с 11 039 запросами.
</a:t>
            </a:r>
            <a:r>
              <a:rPr lang="en-US" sz="1100" b="1" dirty="0">
                <a:solidFill>
                  <a:srgbClr val="0F172A"/>
                </a:solidFill>
              </a:rPr>
              <a:t>Германия, Италия, США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стабильный европейско-американский интерес.
</a:t>
            </a:r>
            <a:r>
              <a:rPr lang="en-US" sz="1100" b="1" dirty="0">
                <a:solidFill>
                  <a:srgbClr val="0F172A"/>
                </a:solidFill>
              </a:rPr>
              <a:t>Великобритания в конце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 из-за визовых ограничений после 2022.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Куда едут реально (UNESCO 2024)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7607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6060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4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2468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Германия реальный лидер</a:t>
            </a:r>
            <a:endParaRPr lang="en-US" sz="1100" dirty="0"/>
          </a:p>
          <a:p>
            <a:pPr marL="0" indent="0">
              <a:buNone/>
            </a:pP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10 974 студента.
</a:t>
            </a:r>
            <a:r>
              <a:rPr lang="en-US" sz="1100" b="1" dirty="0">
                <a:solidFill>
                  <a:srgbClr val="0F172A"/>
                </a:solidFill>
              </a:rPr>
              <a:t>Китай из спроса не попал в топ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реальных поездок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разрыв спроса и реальности.
</a:t>
            </a:r>
            <a:r>
              <a:rPr lang="en-US" sz="1100" b="1" dirty="0">
                <a:solidFill>
                  <a:srgbClr val="0F172A"/>
                </a:solidFill>
              </a:rPr>
              <a:t>СНГ-страны (Армения, Киргизия, Казахстан)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массовый транзит, о котором Wordstat молчит.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Спрос vs Реальность: разрыв по странам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B14D33-D58E-1C79-8700-D31200ADB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8287"/>
            <a:ext cx="9144000" cy="3406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045EF-DD3F-07A0-051F-5973AC0DCECD}"/>
              </a:ext>
            </a:extLst>
          </p:cNvPr>
          <p:cNvSpPr txBox="1"/>
          <p:nvPr/>
        </p:nvSpPr>
        <p:spPr>
          <a:xfrm flipH="1">
            <a:off x="665637" y="277707"/>
            <a:ext cx="795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Анализ конкурентов</a:t>
            </a:r>
          </a:p>
        </p:txBody>
      </p:sp>
    </p:spTree>
    <p:extLst>
      <p:ext uri="{BB962C8B-B14F-4D97-AF65-F5344CB8AC3E}">
        <p14:creationId xmlns:p14="http://schemas.microsoft.com/office/powerpoint/2010/main" val="1515755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Главные боли аудитории (Pikabu)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Рекомендации по маркетингу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41732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41732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8" name="Text 5"/>
          <p:cNvSpPr/>
          <p:nvPr/>
        </p:nvSpPr>
        <p:spPr>
          <a:xfrm>
            <a:off x="5989320" y="146304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Язык </a:t>
            </a:r>
            <a:r>
              <a:rPr lang="ru-RU" altLang="en-US" sz="1100" b="1" dirty="0">
                <a:solidFill>
                  <a:srgbClr val="0F172A"/>
                </a:solidFill>
              </a:rPr>
              <a:t>-</a:t>
            </a:r>
            <a:r>
              <a:rPr lang="en-US" sz="1100" b="1" dirty="0">
                <a:solidFill>
                  <a:srgbClr val="0F172A"/>
                </a:solidFill>
              </a:rPr>
              <a:t> барьер №1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76479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Контент о языковых курсах, партнёрство с IELTS-школами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37744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37744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2" name="Text 9"/>
          <p:cNvSpPr/>
          <p:nvPr/>
        </p:nvSpPr>
        <p:spPr>
          <a:xfrm>
            <a:off x="5989320" y="242316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Стоимость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72491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Калькулятор стоимости, посты о стипендиях и грантах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33756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333756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6" name="Text 13"/>
          <p:cNvSpPr/>
          <p:nvPr/>
        </p:nvSpPr>
        <p:spPr>
          <a:xfrm>
            <a:off x="5989320" y="338328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Документы сложны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Чеклисты, пошаговые гайды, услуга полного сопровождения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Портрет целевой аудитории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Text 4"/>
          <p:cNvSpPr/>
          <p:nvPr/>
        </p:nvSpPr>
        <p:spPr>
          <a:xfrm>
            <a:off x="45720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География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Москва (13 692)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СПб (5 989)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Краснодар, Татарстан,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Свердловск + Казахстан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0" name="Text 8"/>
          <p:cNvSpPr/>
          <p:nvPr/>
        </p:nvSpPr>
        <p:spPr>
          <a:xfrm>
            <a:off x="333756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Интерес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Гуманит. науки, дизайн,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медицина — в приоритете.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STEM — маловероятен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через эти запросы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4" name="Text 12"/>
          <p:cNvSpPr/>
          <p:nvPr/>
        </p:nvSpPr>
        <p:spPr>
          <a:xfrm>
            <a:off x="621792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Направление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Хотят: Китай, Германия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Едут: Германия, Франция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также СНГ (Армения, Киргизия)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8" name="Text 16"/>
          <p:cNvSpPr/>
          <p:nvPr/>
        </p:nvSpPr>
        <p:spPr>
          <a:xfrm>
            <a:off x="45720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Главный страх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Языковой барьер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(IELTS/TOEFL)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Стоимость обучения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Сложность с документами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2" name="Text 20"/>
          <p:cNvSpPr/>
          <p:nvPr/>
        </p:nvSpPr>
        <p:spPr>
          <a:xfrm>
            <a:off x="333756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Что ищут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46% — общая информация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36% — помощь с документами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15% — виза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2% — поступление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6" name="Text 24"/>
          <p:cNvSpPr/>
          <p:nvPr/>
        </p:nvSpPr>
        <p:spPr>
          <a:xfrm>
            <a:off x="621792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Как достучаться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Чеклисты и гайды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Калькуляторы стоимости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Истории успеха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Сравнение стран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4D182A-2420-CDF2-1F74-09714F28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970"/>
            <a:ext cx="9144000" cy="322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3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715FF-6B72-6022-785D-9FDD0EDAD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8968"/>
            <a:ext cx="9144000" cy="350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28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20900A-8EA5-AE29-E668-FC363471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214"/>
            <a:ext cx="9144000" cy="405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70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2800" dirty="0"/>
              <a:t>Маркетинговый план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id="25" name="Группа 24"/>
          <p:cNvGrpSpPr/>
          <p:nvPr/>
        </p:nvGrpSpPr>
        <p:grpSpPr>
          <a:xfrm>
            <a:off x="457200" y="1266190"/>
            <a:ext cx="8229600" cy="2880360"/>
            <a:chOff x="720" y="1512"/>
            <a:chExt cx="12960" cy="4536"/>
          </a:xfrm>
        </p:grpSpPr>
        <p:sp>
          <p:nvSpPr>
            <p:cNvPr id="4" name="Shape 2"/>
            <p:cNvSpPr/>
            <p:nvPr/>
          </p:nvSpPr>
          <p:spPr>
            <a:xfrm>
              <a:off x="720" y="1512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720" y="1512"/>
              <a:ext cx="936" cy="1368"/>
            </a:xfrm>
            <a:prstGeom prst="rect">
              <a:avLst/>
            </a:prstGeom>
            <a:solidFill>
              <a:srgbClr val="1D4ED8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720" y="1512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00" y="1613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Документы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800" y="2203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Более 20 000 запросов/мес на помощь с документами</a:t>
              </a:r>
              <a:r>
                <a:rPr lang="ru-RU" altLang="en-US" sz="1100" dirty="0">
                  <a:solidFill>
                    <a:srgbClr val="64748B"/>
                  </a:solidFill>
                </a:rPr>
                <a:t>, что показывает безусловный спрос на который можно поднажать</a:t>
              </a:r>
            </a:p>
          </p:txBody>
        </p:sp>
        <p:sp>
          <p:nvSpPr>
            <p:cNvPr id="9" name="Shape 7"/>
            <p:cNvSpPr/>
            <p:nvPr/>
          </p:nvSpPr>
          <p:spPr>
            <a:xfrm>
              <a:off x="720" y="3096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720" y="3096"/>
              <a:ext cx="936" cy="1368"/>
            </a:xfrm>
            <a:prstGeom prst="rect">
              <a:avLst/>
            </a:prstGeom>
            <a:solidFill>
              <a:srgbClr val="059669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720" y="3096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800" y="3197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Язык 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800" y="3787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IELTS/TOEFL упоминается в каждом 3-м посте</a:t>
              </a:r>
              <a:r>
                <a:rPr lang="ru-RU" altLang="en-US" sz="1100" dirty="0">
                  <a:solidFill>
                    <a:srgbClr val="64748B"/>
                  </a:solidFill>
                </a:rPr>
                <a:t>, значит можно ввести помощь с подачей документов также на эти экзамены (а для них в любом случае нужно лететь в другие страны)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20" y="4680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720" y="4680"/>
              <a:ext cx="936" cy="1368"/>
            </a:xfrm>
            <a:prstGeom prst="rect">
              <a:avLst/>
            </a:prstGeom>
            <a:solidFill>
              <a:srgbClr val="DC2626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720" y="4680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03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4781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Китай: спрос ≠ реальность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800" y="5371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11 039 запросов, но в</a:t>
              </a:r>
              <a:r>
                <a:rPr lang="ru-RU" altLang="en-US" sz="1100" dirty="0">
                  <a:solidFill>
                    <a:srgbClr val="64748B"/>
                  </a:solidFill>
                </a:rPr>
                <a:t> значениях китая мало (ручками посмотрела там тоже мало), значит можно сделать основной упор на данную страну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Text 1"/>
          <p:cNvSpPr/>
          <p:nvPr/>
        </p:nvSpPr>
        <p:spPr>
          <a:xfrm>
            <a:off x="594360" y="211455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Спасибо за внимание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588</Words>
  <Application>Microsoft Office PowerPoint</Application>
  <PresentationFormat>Экран (16:9)</PresentationFormat>
  <Paragraphs>117</Paragraphs>
  <Slides>18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целевой аудитории — поступление за рубеж</dc:title>
  <dc:subject>PptxGenJS Presentation</dc:subject>
  <dc:creator>PptxGenJS</dc:creator>
  <cp:lastModifiedBy>ГУЛЬНАРА Акжигитова</cp:lastModifiedBy>
  <cp:revision>4</cp:revision>
  <dcterms:created xsi:type="dcterms:W3CDTF">2026-05-27T15:34:00Z</dcterms:created>
  <dcterms:modified xsi:type="dcterms:W3CDTF">2026-05-27T17:55:32Z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1D42180BDF1A462A927E5B0DC56640AC_13</vt:lpwstr>
  </property>
  <property fmtid="{D5CDD505-2E9C-101B-9397-08002B2CF9AE}" pid="3" name="KSOProductBuildVer">
    <vt:lpwstr>1049-12.1.0.26372</vt:lpwstr>
  </property>
</Properties>
</file>